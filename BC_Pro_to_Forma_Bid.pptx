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rial"/>
              </a:defRPr>
            </a:pPr>
            <a:r>
              <a:t>BuildingConnected Pro → Forma Bid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00"/>
                </a:solidFill>
                <a:latin typeface="Arial"/>
              </a:defRPr>
            </a:pPr>
            <a:r>
              <a:t>Feature availability tracker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4"/>
                </a:solidFill>
                <a:latin typeface="Arial"/>
              </a:defRPr>
            </a:pPr>
            <a:r>
              <a:t>Last updated: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4B4B4"/>
                </a:solidFill>
                <a:latin typeface="Arial"/>
              </a:defRPr>
            </a:pPr>
            <a:r>
              <a:t>© 2026 Autodesk. All rights reserved.  www.autodesk.com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5800"/>
            <a:ext cx="12191695" cy="8412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527048"/>
            <a:ext cx="12191695" cy="952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740664"/>
            <a:ext cx="11094415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Arial"/>
              </a:defRPr>
            </a:pPr>
            <a:r>
              <a:t>This page tracks the availability of BuildingConnected Pro functionality inside Forma Bid. The majority of project-level functionality is available today, with several improvements. Your existing BuildingConnected data is the same data in Forma — both products can be used simultaneously, and all of your BuildingConnected data is accessible within Forma.</a:t>
            </a:r>
            <a:br/>
            <a:r>
              <a:t>Features marked "Improved" or "New" represent capabilities that go beyond what was available in BuildingConnected Pro.</a:t>
            </a:r>
            <a:br/>
            <a:r>
              <a:t>Note: the term "RFP" is used in place of "BuildingConnected Project" to separate bidding efforts from the Forma project.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rial"/>
              </a:defRPr>
            </a:pPr>
            <a:r>
              <a:t>BuildingConnected Pro → Forma Bid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00"/>
                </a:solidFill>
                <a:latin typeface="Arial"/>
              </a:defRPr>
            </a:pPr>
            <a:r>
              <a:t>Feature availability tracker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4"/>
                </a:solidFill>
                <a:latin typeface="Arial"/>
              </a:defRPr>
            </a:pPr>
            <a:r>
              <a:t>Last updated: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4B4B4"/>
                </a:solidFill>
                <a:latin typeface="Arial"/>
              </a:defRPr>
            </a:pPr>
            <a:r>
              <a:t>© 2026 Autodesk. All rights reserved.  www.autodesk.com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Arial"/>
              </a:defRPr>
            </a:pPr>
            <a:r>
              <a:t>Project-Based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42416"/>
            <a:ext cx="1109441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Features scoped to individual project workflows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243584"/>
            <a:ext cx="11094415" cy="2011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44752"/>
            <a:ext cx="11094415" cy="952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271016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66666"/>
                </a:solidFill>
                <a:latin typeface="Arial"/>
              </a:defRPr>
            </a:pPr>
            <a:r>
              <a:t>FEATURE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4837" y="1271016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66666"/>
                </a:solidFill>
                <a:latin typeface="Arial"/>
              </a:defRPr>
            </a:pPr>
            <a: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8999" y="1271016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66666"/>
                </a:solidFill>
                <a:latin typeface="Arial"/>
              </a:defRPr>
            </a:pPr>
            <a:r>
              <a:t>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481328"/>
            <a:ext cx="3745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Creating &amp; managing RFPs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04837" y="1490472"/>
            <a:ext cx="726947" cy="164592"/>
          </a:xfrm>
          <a:prstGeom prst="rect">
            <a:avLst/>
          </a:prstGeom>
          <a:solidFill>
            <a:srgbClr val="E7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6A9728"/>
                </a:solidFill>
                <a:latin typeface="Arial"/>
              </a:defRPr>
            </a:pPr>
            <a:r>
              <a:t>       Available</a:t>
            </a:r>
          </a:p>
        </p:txBody>
      </p:sp>
      <p:sp>
        <p:nvSpPr>
          <p:cNvPr id="17" name="Oval 16"/>
          <p:cNvSpPr/>
          <p:nvPr/>
        </p:nvSpPr>
        <p:spPr>
          <a:xfrm>
            <a:off x="4568845" y="1545336"/>
            <a:ext cx="54864" cy="54864"/>
          </a:xfrm>
          <a:prstGeom prst="ellipse">
            <a:avLst/>
          </a:prstGeom>
          <a:solidFill>
            <a:srgbClr val="6A9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8999" y="1481328"/>
            <a:ext cx="54100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Same as BuildingConnected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719072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1755648"/>
            <a:ext cx="3745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Managing multiple RFPs per project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23820" y="1773936"/>
            <a:ext cx="288036" cy="128016"/>
          </a:xfrm>
          <a:prstGeom prst="rect">
            <a:avLst/>
          </a:prstGeom>
          <a:solidFill>
            <a:srgbClr val="2AD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550" b="1">
                <a:solidFill>
                  <a:srgbClr val="FFFFFF"/>
                </a:solidFill>
                <a:latin typeface="Arial"/>
              </a:defRPr>
            </a:pPr>
            <a:r>
              <a:t>NEW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04837" y="1764792"/>
            <a:ext cx="726947" cy="164592"/>
          </a:xfrm>
          <a:prstGeom prst="rect">
            <a:avLst/>
          </a:prstGeom>
          <a:solidFill>
            <a:srgbClr val="E7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6A9728"/>
                </a:solidFill>
                <a:latin typeface="Arial"/>
              </a:defRPr>
            </a:pPr>
            <a:r>
              <a:t>       Available</a:t>
            </a:r>
          </a:p>
        </p:txBody>
      </p:sp>
      <p:sp>
        <p:nvSpPr>
          <p:cNvPr id="23" name="Oval 22"/>
          <p:cNvSpPr/>
          <p:nvPr/>
        </p:nvSpPr>
        <p:spPr>
          <a:xfrm>
            <a:off x="4568845" y="1819656"/>
            <a:ext cx="54864" cy="54864"/>
          </a:xfrm>
          <a:prstGeom prst="ellipse">
            <a:avLst/>
          </a:prstGeom>
          <a:solidFill>
            <a:srgbClr val="6A9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8999" y="1755648"/>
            <a:ext cx="54100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New capability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1993392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2029968"/>
            <a:ext cx="374588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Importing RFPs from templates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04837" y="2039112"/>
            <a:ext cx="726947" cy="164592"/>
          </a:xfrm>
          <a:prstGeom prst="rect">
            <a:avLst/>
          </a:prstGeom>
          <a:solidFill>
            <a:srgbClr val="E7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6A9728"/>
                </a:solidFill>
                <a:latin typeface="Arial"/>
              </a:defRPr>
            </a:pPr>
            <a:r>
              <a:t>       Available</a:t>
            </a:r>
          </a:p>
        </p:txBody>
      </p:sp>
      <p:sp>
        <p:nvSpPr>
          <p:cNvPr id="28" name="Oval 27"/>
          <p:cNvSpPr/>
          <p:nvPr/>
        </p:nvSpPr>
        <p:spPr>
          <a:xfrm>
            <a:off x="4568845" y="2093976"/>
            <a:ext cx="54864" cy="54864"/>
          </a:xfrm>
          <a:prstGeom prst="ellipse">
            <a:avLst/>
          </a:prstGeom>
          <a:solidFill>
            <a:srgbClr val="6A9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8999" y="2029968"/>
            <a:ext cx="54100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All data from BuildingConnected available; improvements to import flow included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359152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2395728"/>
            <a:ext cx="3745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Creating and managing bid packages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04837" y="2404872"/>
            <a:ext cx="726947" cy="164592"/>
          </a:xfrm>
          <a:prstGeom prst="rect">
            <a:avLst/>
          </a:prstGeom>
          <a:solidFill>
            <a:srgbClr val="E7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6A9728"/>
                </a:solidFill>
                <a:latin typeface="Arial"/>
              </a:defRPr>
            </a:pPr>
            <a:r>
              <a:t>       Available</a:t>
            </a:r>
          </a:p>
        </p:txBody>
      </p:sp>
      <p:sp>
        <p:nvSpPr>
          <p:cNvPr id="33" name="Oval 32"/>
          <p:cNvSpPr/>
          <p:nvPr/>
        </p:nvSpPr>
        <p:spPr>
          <a:xfrm>
            <a:off x="4568845" y="2459736"/>
            <a:ext cx="54864" cy="54864"/>
          </a:xfrm>
          <a:prstGeom prst="ellipse">
            <a:avLst/>
          </a:prstGeom>
          <a:solidFill>
            <a:srgbClr val="6A9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68999" y="2395728"/>
            <a:ext cx="54100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Same as BuildingConnected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2633472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2670048"/>
            <a:ext cx="3745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Builder's Network profiles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04837" y="2679192"/>
            <a:ext cx="726947" cy="164592"/>
          </a:xfrm>
          <a:prstGeom prst="rect">
            <a:avLst/>
          </a:prstGeom>
          <a:solidFill>
            <a:srgbClr val="E7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6A9728"/>
                </a:solidFill>
                <a:latin typeface="Arial"/>
              </a:defRPr>
            </a:pPr>
            <a:r>
              <a:t>       Available</a:t>
            </a:r>
          </a:p>
        </p:txBody>
      </p:sp>
      <p:sp>
        <p:nvSpPr>
          <p:cNvPr id="38" name="Oval 37"/>
          <p:cNvSpPr/>
          <p:nvPr/>
        </p:nvSpPr>
        <p:spPr>
          <a:xfrm>
            <a:off x="4568845" y="2734056"/>
            <a:ext cx="54864" cy="54864"/>
          </a:xfrm>
          <a:prstGeom prst="ellipse">
            <a:avLst/>
          </a:prstGeom>
          <a:solidFill>
            <a:srgbClr val="6A9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68999" y="2670048"/>
            <a:ext cx="54100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Same as BuildingConnected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2907792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" y="2944368"/>
            <a:ext cx="3745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Sending bid invites and managing bidders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04837" y="2953512"/>
            <a:ext cx="726947" cy="164592"/>
          </a:xfrm>
          <a:prstGeom prst="rect">
            <a:avLst/>
          </a:prstGeom>
          <a:solidFill>
            <a:srgbClr val="E7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6A9728"/>
                </a:solidFill>
                <a:latin typeface="Arial"/>
              </a:defRPr>
            </a:pPr>
            <a:r>
              <a:t>       Available</a:t>
            </a:r>
          </a:p>
        </p:txBody>
      </p:sp>
      <p:sp>
        <p:nvSpPr>
          <p:cNvPr id="43" name="Oval 42"/>
          <p:cNvSpPr/>
          <p:nvPr/>
        </p:nvSpPr>
        <p:spPr>
          <a:xfrm>
            <a:off x="4568845" y="3008376"/>
            <a:ext cx="54864" cy="54864"/>
          </a:xfrm>
          <a:prstGeom prst="ellipse">
            <a:avLst/>
          </a:prstGeom>
          <a:solidFill>
            <a:srgbClr val="6A9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68999" y="2944368"/>
            <a:ext cx="54100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Same as BuildingConnected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182112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" y="3218688"/>
            <a:ext cx="3745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Invite-by-email search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97126" y="3236976"/>
            <a:ext cx="539496" cy="128016"/>
          </a:xfrm>
          <a:prstGeom prst="rect">
            <a:avLst/>
          </a:prstGeom>
          <a:solidFill>
            <a:srgbClr val="2AD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550" b="1">
                <a:solidFill>
                  <a:srgbClr val="FFFFFF"/>
                </a:solidFill>
                <a:latin typeface="Arial"/>
              </a:defRPr>
            </a:pPr>
            <a:r>
              <a:t>IMPROVED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04837" y="3227832"/>
            <a:ext cx="726947" cy="164592"/>
          </a:xfrm>
          <a:prstGeom prst="rect">
            <a:avLst/>
          </a:prstGeom>
          <a:solidFill>
            <a:srgbClr val="E7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6A9728"/>
                </a:solidFill>
                <a:latin typeface="Arial"/>
              </a:defRPr>
            </a:pPr>
            <a:r>
              <a:t>       Available</a:t>
            </a:r>
          </a:p>
        </p:txBody>
      </p:sp>
      <p:sp>
        <p:nvSpPr>
          <p:cNvPr id="49" name="Oval 48"/>
          <p:cNvSpPr/>
          <p:nvPr/>
        </p:nvSpPr>
        <p:spPr>
          <a:xfrm>
            <a:off x="4568845" y="3282696"/>
            <a:ext cx="54864" cy="54864"/>
          </a:xfrm>
          <a:prstGeom prst="ellipse">
            <a:avLst/>
          </a:prstGeom>
          <a:solidFill>
            <a:srgbClr val="6A9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68999" y="3218688"/>
            <a:ext cx="54100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Improved search experience when inviting bidders by email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3456432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" y="3493008"/>
            <a:ext cx="3745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File sharing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04837" y="3502152"/>
            <a:ext cx="726947" cy="164592"/>
          </a:xfrm>
          <a:prstGeom prst="rect">
            <a:avLst/>
          </a:prstGeom>
          <a:solidFill>
            <a:srgbClr val="E7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6A9728"/>
                </a:solidFill>
                <a:latin typeface="Arial"/>
              </a:defRPr>
            </a:pPr>
            <a:r>
              <a:t>       Available</a:t>
            </a:r>
          </a:p>
        </p:txBody>
      </p:sp>
      <p:sp>
        <p:nvSpPr>
          <p:cNvPr id="54" name="Oval 53"/>
          <p:cNvSpPr/>
          <p:nvPr/>
        </p:nvSpPr>
        <p:spPr>
          <a:xfrm>
            <a:off x="4568845" y="3557016"/>
            <a:ext cx="54864" cy="54864"/>
          </a:xfrm>
          <a:prstGeom prst="ellipse">
            <a:avLst/>
          </a:prstGeom>
          <a:solidFill>
            <a:srgbClr val="6A9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68999" y="3493008"/>
            <a:ext cx="54100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Improved file sharing via Forma Data Management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3730752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92" y="3767328"/>
            <a:ext cx="3745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Messaging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04837" y="3776472"/>
            <a:ext cx="726947" cy="164592"/>
          </a:xfrm>
          <a:prstGeom prst="rect">
            <a:avLst/>
          </a:prstGeom>
          <a:solidFill>
            <a:srgbClr val="E7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6A9728"/>
                </a:solidFill>
                <a:latin typeface="Arial"/>
              </a:defRPr>
            </a:pPr>
            <a:r>
              <a:t>       Available</a:t>
            </a:r>
          </a:p>
        </p:txBody>
      </p:sp>
      <p:sp>
        <p:nvSpPr>
          <p:cNvPr id="59" name="Oval 58"/>
          <p:cNvSpPr/>
          <p:nvPr/>
        </p:nvSpPr>
        <p:spPr>
          <a:xfrm>
            <a:off x="4568845" y="3831336"/>
            <a:ext cx="54864" cy="54864"/>
          </a:xfrm>
          <a:prstGeom prst="ellipse">
            <a:avLst/>
          </a:prstGeom>
          <a:solidFill>
            <a:srgbClr val="6A9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68999" y="3767328"/>
            <a:ext cx="54100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Same as BuildingConnected; new filtering ability on messages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4005072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" y="4041648"/>
            <a:ext cx="374588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Creating bid forms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04837" y="4050792"/>
            <a:ext cx="726947" cy="164592"/>
          </a:xfrm>
          <a:prstGeom prst="rect">
            <a:avLst/>
          </a:prstGeom>
          <a:solidFill>
            <a:srgbClr val="E7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6A9728"/>
                </a:solidFill>
                <a:latin typeface="Arial"/>
              </a:defRPr>
            </a:pPr>
            <a:r>
              <a:t>       Available</a:t>
            </a:r>
          </a:p>
        </p:txBody>
      </p:sp>
      <p:sp>
        <p:nvSpPr>
          <p:cNvPr id="64" name="Oval 63"/>
          <p:cNvSpPr/>
          <p:nvPr/>
        </p:nvSpPr>
        <p:spPr>
          <a:xfrm>
            <a:off x="4568845" y="4105656"/>
            <a:ext cx="54864" cy="54864"/>
          </a:xfrm>
          <a:prstGeom prst="ellipse">
            <a:avLst/>
          </a:prstGeom>
          <a:solidFill>
            <a:srgbClr val="6A9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68999" y="4041648"/>
            <a:ext cx="54100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Same as BuildingConnected; new ability to add item codes to more line items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4370832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1792" y="4407408"/>
            <a:ext cx="3745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Viewing, submitting, and printing bids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04837" y="4416552"/>
            <a:ext cx="726947" cy="164592"/>
          </a:xfrm>
          <a:prstGeom prst="rect">
            <a:avLst/>
          </a:prstGeom>
          <a:solidFill>
            <a:srgbClr val="E7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6A9728"/>
                </a:solidFill>
                <a:latin typeface="Arial"/>
              </a:defRPr>
            </a:pPr>
            <a:r>
              <a:t>       Available</a:t>
            </a:r>
          </a:p>
        </p:txBody>
      </p:sp>
      <p:sp>
        <p:nvSpPr>
          <p:cNvPr id="69" name="Oval 68"/>
          <p:cNvSpPr/>
          <p:nvPr/>
        </p:nvSpPr>
        <p:spPr>
          <a:xfrm>
            <a:off x="4568845" y="4471416"/>
            <a:ext cx="54864" cy="54864"/>
          </a:xfrm>
          <a:prstGeom prst="ellipse">
            <a:avLst/>
          </a:prstGeom>
          <a:solidFill>
            <a:srgbClr val="6A9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68999" y="4407408"/>
            <a:ext cx="54100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Same as BuildingConnected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" y="4645152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1792" y="4681728"/>
            <a:ext cx="3745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TradeTapp Qualification Card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960473" y="4700016"/>
            <a:ext cx="539496" cy="128016"/>
          </a:xfrm>
          <a:prstGeom prst="rect">
            <a:avLst/>
          </a:prstGeom>
          <a:solidFill>
            <a:srgbClr val="2AD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550" b="1">
                <a:solidFill>
                  <a:srgbClr val="FFFFFF"/>
                </a:solidFill>
                <a:latin typeface="Arial"/>
              </a:defRPr>
            </a:pPr>
            <a:r>
              <a:t>IMPROVED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04837" y="4690872"/>
            <a:ext cx="726947" cy="164592"/>
          </a:xfrm>
          <a:prstGeom prst="rect">
            <a:avLst/>
          </a:prstGeom>
          <a:solidFill>
            <a:srgbClr val="E7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6A9728"/>
                </a:solidFill>
                <a:latin typeface="Arial"/>
              </a:defRPr>
            </a:pPr>
            <a:r>
              <a:t>       Available</a:t>
            </a:r>
          </a:p>
        </p:txBody>
      </p:sp>
      <p:sp>
        <p:nvSpPr>
          <p:cNvPr id="75" name="Oval 74"/>
          <p:cNvSpPr/>
          <p:nvPr/>
        </p:nvSpPr>
        <p:spPr>
          <a:xfrm>
            <a:off x="4568845" y="4745736"/>
            <a:ext cx="54864" cy="54864"/>
          </a:xfrm>
          <a:prstGeom prst="ellipse">
            <a:avLst/>
          </a:prstGeom>
          <a:solidFill>
            <a:srgbClr val="6A9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68999" y="4681728"/>
            <a:ext cx="54100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More TradeTapp data availability, including flags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4919472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1792" y="4956048"/>
            <a:ext cx="3745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Bid levelling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04837" y="4965192"/>
            <a:ext cx="726947" cy="164592"/>
          </a:xfrm>
          <a:prstGeom prst="rect">
            <a:avLst/>
          </a:prstGeom>
          <a:solidFill>
            <a:srgbClr val="E7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6A9728"/>
                </a:solidFill>
                <a:latin typeface="Arial"/>
              </a:defRPr>
            </a:pPr>
            <a:r>
              <a:t>       Available</a:t>
            </a:r>
          </a:p>
        </p:txBody>
      </p:sp>
      <p:sp>
        <p:nvSpPr>
          <p:cNvPr id="80" name="Oval 79"/>
          <p:cNvSpPr/>
          <p:nvPr/>
        </p:nvSpPr>
        <p:spPr>
          <a:xfrm>
            <a:off x="4568845" y="5020056"/>
            <a:ext cx="54864" cy="54864"/>
          </a:xfrm>
          <a:prstGeom prst="ellipse">
            <a:avLst/>
          </a:prstGeom>
          <a:solidFill>
            <a:srgbClr val="6A9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68999" y="4956048"/>
            <a:ext cx="54100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Further improvements coming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48640" y="5193792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1792" y="5230368"/>
            <a:ext cx="374588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RFP Reports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214323" y="5248656"/>
            <a:ext cx="539496" cy="128016"/>
          </a:xfrm>
          <a:prstGeom prst="rect">
            <a:avLst/>
          </a:prstGeom>
          <a:solidFill>
            <a:srgbClr val="2AD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550" b="1">
                <a:solidFill>
                  <a:srgbClr val="FFFFFF"/>
                </a:solidFill>
                <a:latin typeface="Arial"/>
              </a:defRPr>
            </a:pPr>
            <a:r>
              <a:t>IMPROVED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04837" y="5239512"/>
            <a:ext cx="726947" cy="164592"/>
          </a:xfrm>
          <a:prstGeom prst="rect">
            <a:avLst/>
          </a:prstGeom>
          <a:solidFill>
            <a:srgbClr val="E7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6A9728"/>
                </a:solidFill>
                <a:latin typeface="Arial"/>
              </a:defRPr>
            </a:pPr>
            <a:r>
              <a:t>       Available</a:t>
            </a:r>
          </a:p>
        </p:txBody>
      </p:sp>
      <p:sp>
        <p:nvSpPr>
          <p:cNvPr id="86" name="Oval 85"/>
          <p:cNvSpPr/>
          <p:nvPr/>
        </p:nvSpPr>
        <p:spPr>
          <a:xfrm>
            <a:off x="4568845" y="5294376"/>
            <a:ext cx="54864" cy="54864"/>
          </a:xfrm>
          <a:prstGeom prst="ellipse">
            <a:avLst/>
          </a:prstGeom>
          <a:solidFill>
            <a:srgbClr val="6A9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68999" y="5230368"/>
            <a:ext cx="54100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New RFP report and custom filters and field selection for all BuildingConnected reports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8640" y="5559552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1792" y="5596128"/>
            <a:ext cx="3745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Sending qualification invites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504837" y="5605272"/>
            <a:ext cx="726947" cy="164592"/>
          </a:xfrm>
          <a:prstGeom prst="rect">
            <a:avLst/>
          </a:prstGeom>
          <a:solidFill>
            <a:srgbClr val="E7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6A9728"/>
                </a:solidFill>
                <a:latin typeface="Arial"/>
              </a:defRPr>
            </a:pPr>
            <a:r>
              <a:t>       Available</a:t>
            </a:r>
          </a:p>
        </p:txBody>
      </p:sp>
      <p:sp>
        <p:nvSpPr>
          <p:cNvPr id="91" name="Oval 90"/>
          <p:cNvSpPr/>
          <p:nvPr/>
        </p:nvSpPr>
        <p:spPr>
          <a:xfrm>
            <a:off x="4568845" y="5660136"/>
            <a:ext cx="54864" cy="54864"/>
          </a:xfrm>
          <a:prstGeom prst="ellipse">
            <a:avLst/>
          </a:prstGeom>
          <a:solidFill>
            <a:srgbClr val="6A9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168999" y="5596128"/>
            <a:ext cx="54100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Same as BuildingConnected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48640" y="5833872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21792" y="5870448"/>
            <a:ext cx="3745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Sealed Bidding Support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04837" y="5879592"/>
            <a:ext cx="726947" cy="164592"/>
          </a:xfrm>
          <a:prstGeom prst="rect">
            <a:avLst/>
          </a:prstGeom>
          <a:solidFill>
            <a:srgbClr val="E7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6A9728"/>
                </a:solidFill>
                <a:latin typeface="Arial"/>
              </a:defRPr>
            </a:pPr>
            <a:r>
              <a:t>       Available</a:t>
            </a:r>
          </a:p>
        </p:txBody>
      </p:sp>
      <p:sp>
        <p:nvSpPr>
          <p:cNvPr id="96" name="Oval 95"/>
          <p:cNvSpPr/>
          <p:nvPr/>
        </p:nvSpPr>
        <p:spPr>
          <a:xfrm>
            <a:off x="4568845" y="5934456"/>
            <a:ext cx="54864" cy="54864"/>
          </a:xfrm>
          <a:prstGeom prst="ellipse">
            <a:avLst/>
          </a:prstGeom>
          <a:solidFill>
            <a:srgbClr val="6A9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68999" y="5870448"/>
            <a:ext cx="54100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Same as BuildingConnected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48640" y="6108192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21792" y="6144768"/>
            <a:ext cx="3745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Creating contracts in Cost Management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504837" y="6153912"/>
            <a:ext cx="827532" cy="164592"/>
          </a:xfrm>
          <a:prstGeom prst="rect">
            <a:avLst/>
          </a:prstGeom>
          <a:solidFill>
            <a:srgbClr val="CD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0696D7"/>
                </a:solidFill>
                <a:latin typeface="Arial"/>
              </a:defRPr>
            </a:pPr>
            <a:r>
              <a:t>       Coming Soon</a:t>
            </a:r>
          </a:p>
        </p:txBody>
      </p:sp>
      <p:sp>
        <p:nvSpPr>
          <p:cNvPr id="101" name="Oval 100"/>
          <p:cNvSpPr/>
          <p:nvPr/>
        </p:nvSpPr>
        <p:spPr>
          <a:xfrm>
            <a:off x="4568845" y="6208776"/>
            <a:ext cx="54864" cy="54864"/>
          </a:xfrm>
          <a:prstGeom prst="ellipse">
            <a:avLst/>
          </a:prstGeom>
          <a:solidFill>
            <a:srgbClr val="069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168999" y="6144768"/>
            <a:ext cx="54100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New ability to link contracts to multiple budgets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48640" y="6382512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21792" y="6419088"/>
            <a:ext cx="374588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Indirect Project Costs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04837" y="6428232"/>
            <a:ext cx="827532" cy="16459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999999"/>
                </a:solidFill>
                <a:latin typeface="Arial"/>
              </a:defRPr>
            </a:pPr>
            <a:r>
              <a:t>       Not Planned</a:t>
            </a:r>
          </a:p>
        </p:txBody>
      </p:sp>
      <p:sp>
        <p:nvSpPr>
          <p:cNvPr id="106" name="Oval 105"/>
          <p:cNvSpPr/>
          <p:nvPr/>
        </p:nvSpPr>
        <p:spPr>
          <a:xfrm>
            <a:off x="4568845" y="6483096"/>
            <a:ext cx="54864" cy="54864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68999" y="6419088"/>
            <a:ext cx="54100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Not on the current roadmap. Investigate Autodesk Estimate for this capability.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48640" y="6748272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rial"/>
              </a:defRPr>
            </a:pPr>
            <a:r>
              <a:t>BuildingConnected Pro → Forma Bid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00"/>
                </a:solidFill>
                <a:latin typeface="Arial"/>
              </a:defRPr>
            </a:pPr>
            <a:r>
              <a:t>Feature availability tracker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4B4B4"/>
                </a:solidFill>
                <a:latin typeface="Arial"/>
              </a:defRPr>
            </a:pPr>
            <a:r>
              <a:t>Last updated: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4B4B4"/>
                </a:solidFill>
                <a:latin typeface="Arial"/>
              </a:defRPr>
            </a:pPr>
            <a:r>
              <a:t>© 2026 Autodesk. All rights reserved.  www.autodesk.com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Arial"/>
              </a:defRPr>
            </a:pPr>
            <a:r>
              <a:t>Account &amp; Company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42416"/>
            <a:ext cx="1109441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Features related to company-wide settings and reporting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243584"/>
            <a:ext cx="11094415" cy="2011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44752"/>
            <a:ext cx="11094415" cy="952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271016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66666"/>
                </a:solidFill>
                <a:latin typeface="Arial"/>
              </a:defRPr>
            </a:pPr>
            <a:r>
              <a:t>FEATURE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4837" y="1271016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66666"/>
                </a:solidFill>
                <a:latin typeface="Arial"/>
              </a:defRPr>
            </a:pPr>
            <a: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8999" y="1271016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66666"/>
                </a:solidFill>
                <a:latin typeface="Arial"/>
              </a:defRPr>
            </a:pPr>
            <a:r>
              <a:t>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481328"/>
            <a:ext cx="3745885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Builder's Network Suggested Edits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04837" y="1490472"/>
            <a:ext cx="626364" cy="164592"/>
          </a:xfrm>
          <a:prstGeom prst="rect">
            <a:avLst/>
          </a:prstGeom>
          <a:solidFill>
            <a:srgbClr val="FEEC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D9730B"/>
                </a:solidFill>
                <a:latin typeface="Arial"/>
              </a:defRPr>
            </a:pPr>
            <a:r>
              <a:t>       Partial</a:t>
            </a:r>
          </a:p>
        </p:txBody>
      </p:sp>
      <p:sp>
        <p:nvSpPr>
          <p:cNvPr id="17" name="Oval 16"/>
          <p:cNvSpPr/>
          <p:nvPr/>
        </p:nvSpPr>
        <p:spPr>
          <a:xfrm>
            <a:off x="4568845" y="1545336"/>
            <a:ext cx="54864" cy="54864"/>
          </a:xfrm>
          <a:prstGeom prst="ellipse">
            <a:avLst/>
          </a:prstGeom>
          <a:solidFill>
            <a:srgbClr val="D97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8999" y="1481328"/>
            <a:ext cx="5410047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You can see suggested edit information in the profile view, but not directly in the UI. For example, a changed phone number will display in the profile, but not on the bidders list.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947671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1984247"/>
            <a:ext cx="3745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Profile Management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4837" y="1993391"/>
            <a:ext cx="827532" cy="164592"/>
          </a:xfrm>
          <a:prstGeom prst="rect">
            <a:avLst/>
          </a:prstGeom>
          <a:solidFill>
            <a:srgbClr val="CD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0696D7"/>
                </a:solidFill>
                <a:latin typeface="Arial"/>
              </a:defRPr>
            </a:pPr>
            <a:r>
              <a:t>       Coming Soon</a:t>
            </a:r>
          </a:p>
        </p:txBody>
      </p:sp>
      <p:sp>
        <p:nvSpPr>
          <p:cNvPr id="22" name="Oval 21"/>
          <p:cNvSpPr/>
          <p:nvPr/>
        </p:nvSpPr>
        <p:spPr>
          <a:xfrm>
            <a:off x="4568845" y="2048255"/>
            <a:ext cx="54864" cy="54864"/>
          </a:xfrm>
          <a:prstGeom prst="ellipse">
            <a:avLst/>
          </a:prstGeom>
          <a:solidFill>
            <a:srgbClr val="069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2221991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258567"/>
            <a:ext cx="3745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Builder's Network Employee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04837" y="2267711"/>
            <a:ext cx="827532" cy="164592"/>
          </a:xfrm>
          <a:prstGeom prst="rect">
            <a:avLst/>
          </a:prstGeom>
          <a:solidFill>
            <a:srgbClr val="CD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0696D7"/>
                </a:solidFill>
                <a:latin typeface="Arial"/>
              </a:defRPr>
            </a:pPr>
            <a:r>
              <a:t>       Coming Soon</a:t>
            </a:r>
          </a:p>
        </p:txBody>
      </p:sp>
      <p:sp>
        <p:nvSpPr>
          <p:cNvPr id="26" name="Oval 25"/>
          <p:cNvSpPr/>
          <p:nvPr/>
        </p:nvSpPr>
        <p:spPr>
          <a:xfrm>
            <a:off x="4568845" y="2322575"/>
            <a:ext cx="54864" cy="54864"/>
          </a:xfrm>
          <a:prstGeom prst="ellipse">
            <a:avLst/>
          </a:prstGeom>
          <a:solidFill>
            <a:srgbClr val="069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2496311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2532887"/>
            <a:ext cx="3745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Builder's Network Office Management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04837" y="2542031"/>
            <a:ext cx="827532" cy="164592"/>
          </a:xfrm>
          <a:prstGeom prst="rect">
            <a:avLst/>
          </a:prstGeom>
          <a:solidFill>
            <a:srgbClr val="CD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0696D7"/>
                </a:solidFill>
                <a:latin typeface="Arial"/>
              </a:defRPr>
            </a:pPr>
            <a:r>
              <a:t>       Coming Soon</a:t>
            </a:r>
          </a:p>
        </p:txBody>
      </p:sp>
      <p:sp>
        <p:nvSpPr>
          <p:cNvPr id="30" name="Oval 29"/>
          <p:cNvSpPr/>
          <p:nvPr/>
        </p:nvSpPr>
        <p:spPr>
          <a:xfrm>
            <a:off x="4568845" y="2596895"/>
            <a:ext cx="54864" cy="54864"/>
          </a:xfrm>
          <a:prstGeom prst="ellipse">
            <a:avLst/>
          </a:prstGeom>
          <a:solidFill>
            <a:srgbClr val="069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2770631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935223"/>
            <a:ext cx="11094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Arial"/>
              </a:defRPr>
            </a:pPr>
            <a:r>
              <a:t>Cross-Project Functionality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154679"/>
            <a:ext cx="1109441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The below functionality remains functional inside of BuildingConnected. Whether you are using Forma Bid Board or still using BuildingConnected Pro, we are working to find a scalable way to integrate these multi-project pieces of functionality into the greater Forma platform.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611879"/>
            <a:ext cx="11094415" cy="2011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3813047"/>
            <a:ext cx="11094415" cy="952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3639311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66666"/>
                </a:solidFill>
                <a:latin typeface="Arial"/>
              </a:defRPr>
            </a:pPr>
            <a:r>
              <a:t>FEATURE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04837" y="3639311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66666"/>
                </a:solidFill>
                <a:latin typeface="Arial"/>
              </a:defRPr>
            </a:pPr>
            <a:r>
              <a:t>STATUS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8999" y="3639311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66666"/>
                </a:solidFill>
                <a:latin typeface="Arial"/>
              </a:defRPr>
            </a:pPr>
            <a:r>
              <a:t>NOTES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3849623"/>
            <a:ext cx="3745885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Global Network Search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04837" y="3858767"/>
            <a:ext cx="928115" cy="164592"/>
          </a:xfrm>
          <a:prstGeom prst="rect">
            <a:avLst/>
          </a:prstGeom>
          <a:solidFill>
            <a:srgbClr val="FA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DD2222"/>
                </a:solidFill>
                <a:latin typeface="Arial"/>
              </a:defRPr>
            </a:pPr>
            <a:r>
              <a:t>       Not Available</a:t>
            </a:r>
          </a:p>
        </p:txBody>
      </p:sp>
      <p:sp>
        <p:nvSpPr>
          <p:cNvPr id="41" name="Oval 40"/>
          <p:cNvSpPr/>
          <p:nvPr/>
        </p:nvSpPr>
        <p:spPr>
          <a:xfrm>
            <a:off x="4568845" y="3913631"/>
            <a:ext cx="54864" cy="54864"/>
          </a:xfrm>
          <a:prstGeom prst="ellipse">
            <a:avLst/>
          </a:prstGeom>
          <a:solidFill>
            <a:srgbClr val="DD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68999" y="3849623"/>
            <a:ext cx="5410047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This refers to the free-form search field in the top navigation in BuildingConnected. We already support network search in the bidder invite flow.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315966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" y="4352542"/>
            <a:ext cx="374588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Managing templates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04837" y="4361686"/>
            <a:ext cx="928115" cy="164592"/>
          </a:xfrm>
          <a:prstGeom prst="rect">
            <a:avLst/>
          </a:prstGeom>
          <a:solidFill>
            <a:srgbClr val="FA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DD2222"/>
                </a:solidFill>
                <a:latin typeface="Arial"/>
              </a:defRPr>
            </a:pPr>
            <a:r>
              <a:t>       Not Available</a:t>
            </a:r>
          </a:p>
        </p:txBody>
      </p:sp>
      <p:sp>
        <p:nvSpPr>
          <p:cNvPr id="46" name="Oval 45"/>
          <p:cNvSpPr/>
          <p:nvPr/>
        </p:nvSpPr>
        <p:spPr>
          <a:xfrm>
            <a:off x="4568845" y="4416550"/>
            <a:ext cx="54864" cy="54864"/>
          </a:xfrm>
          <a:prstGeom prst="ellipse">
            <a:avLst/>
          </a:prstGeom>
          <a:solidFill>
            <a:srgbClr val="DD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68999" y="4352542"/>
            <a:ext cx="54100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We are actively investigating the best way to manage templates inside of Forma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681726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" y="4718302"/>
            <a:ext cx="374588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Contacts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04837" y="4727446"/>
            <a:ext cx="928115" cy="164592"/>
          </a:xfrm>
          <a:prstGeom prst="rect">
            <a:avLst/>
          </a:prstGeom>
          <a:solidFill>
            <a:srgbClr val="FA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DD2222"/>
                </a:solidFill>
                <a:latin typeface="Arial"/>
              </a:defRPr>
            </a:pPr>
            <a:r>
              <a:t>       Not Available</a:t>
            </a:r>
          </a:p>
        </p:txBody>
      </p:sp>
      <p:sp>
        <p:nvSpPr>
          <p:cNvPr id="51" name="Oval 50"/>
          <p:cNvSpPr/>
          <p:nvPr/>
        </p:nvSpPr>
        <p:spPr>
          <a:xfrm>
            <a:off x="4568845" y="4782310"/>
            <a:ext cx="54864" cy="54864"/>
          </a:xfrm>
          <a:prstGeom prst="ellipse">
            <a:avLst/>
          </a:prstGeom>
          <a:solidFill>
            <a:srgbClr val="DD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68999" y="4718302"/>
            <a:ext cx="54100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We are investigating the best way to represent advanced reporting functionality inside of Forma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5047486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5084062"/>
            <a:ext cx="374588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Bid History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04837" y="5093206"/>
            <a:ext cx="928115" cy="164592"/>
          </a:xfrm>
          <a:prstGeom prst="rect">
            <a:avLst/>
          </a:prstGeom>
          <a:solidFill>
            <a:srgbClr val="FA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DD2222"/>
                </a:solidFill>
                <a:latin typeface="Arial"/>
              </a:defRPr>
            </a:pPr>
            <a:r>
              <a:t>       Not Available</a:t>
            </a:r>
          </a:p>
        </p:txBody>
      </p:sp>
      <p:sp>
        <p:nvSpPr>
          <p:cNvPr id="56" name="Oval 55"/>
          <p:cNvSpPr/>
          <p:nvPr/>
        </p:nvSpPr>
        <p:spPr>
          <a:xfrm>
            <a:off x="4568845" y="5148070"/>
            <a:ext cx="54864" cy="54864"/>
          </a:xfrm>
          <a:prstGeom prst="ellipse">
            <a:avLst/>
          </a:prstGeom>
          <a:solidFill>
            <a:srgbClr val="DD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68999" y="5084062"/>
            <a:ext cx="54100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We are investigating the best way to represent advanced reporting functionality inside of Forma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5413246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" y="5449822"/>
            <a:ext cx="374588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Calendar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04837" y="5458966"/>
            <a:ext cx="928115" cy="164592"/>
          </a:xfrm>
          <a:prstGeom prst="rect">
            <a:avLst/>
          </a:prstGeom>
          <a:solidFill>
            <a:srgbClr val="FA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DD2222"/>
                </a:solidFill>
                <a:latin typeface="Arial"/>
              </a:defRPr>
            </a:pPr>
            <a:r>
              <a:t>       Not Available</a:t>
            </a:r>
          </a:p>
        </p:txBody>
      </p:sp>
      <p:sp>
        <p:nvSpPr>
          <p:cNvPr id="61" name="Oval 60"/>
          <p:cNvSpPr/>
          <p:nvPr/>
        </p:nvSpPr>
        <p:spPr>
          <a:xfrm>
            <a:off x="4568845" y="5513830"/>
            <a:ext cx="54864" cy="54864"/>
          </a:xfrm>
          <a:prstGeom prst="ellipse">
            <a:avLst/>
          </a:prstGeom>
          <a:solidFill>
            <a:srgbClr val="DD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68999" y="5449822"/>
            <a:ext cx="54100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We are investigating consolidating calendar functionality across our products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5779006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1792" y="5815582"/>
            <a:ext cx="374588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Analytics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04837" y="5824726"/>
            <a:ext cx="928115" cy="164592"/>
          </a:xfrm>
          <a:prstGeom prst="rect">
            <a:avLst/>
          </a:prstGeom>
          <a:solidFill>
            <a:srgbClr val="FA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DD2222"/>
                </a:solidFill>
                <a:latin typeface="Arial"/>
              </a:defRPr>
            </a:pPr>
            <a:r>
              <a:t>       Not Available</a:t>
            </a:r>
          </a:p>
        </p:txBody>
      </p:sp>
      <p:sp>
        <p:nvSpPr>
          <p:cNvPr id="66" name="Oval 65"/>
          <p:cNvSpPr/>
          <p:nvPr/>
        </p:nvSpPr>
        <p:spPr>
          <a:xfrm>
            <a:off x="4568845" y="5879590"/>
            <a:ext cx="54864" cy="54864"/>
          </a:xfrm>
          <a:prstGeom prst="ellipse">
            <a:avLst/>
          </a:prstGeom>
          <a:solidFill>
            <a:srgbClr val="DD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68999" y="5815582"/>
            <a:ext cx="54100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Arial"/>
              </a:defRPr>
            </a:pPr>
            <a:r>
              <a:t>We are investigating the best way to represent advanced reporting functionality inside of Forma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6144766"/>
            <a:ext cx="11094415" cy="63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